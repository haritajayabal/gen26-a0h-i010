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Bold" charset="1" panose="020F0702030404030204"/>
      <p:regular r:id="rId14"/>
    </p:embeddedFont>
    <p:embeddedFont>
      <p:font typeface="Cambria Bold" charset="1" panose="02040803050406030204"/>
      <p:regular r:id="rId15"/>
    </p:embeddedFont>
    <p:embeddedFont>
      <p:font typeface="Calibri (MS)" charset="1" panose="020F050202020403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B35"/>
        </a:solidFill>
      </p:bgPr>
    </p:bg>
    <p:spTree>
      <p:nvGrpSpPr>
        <p:cNvPr id="1" name=""/>
        <p:cNvGrpSpPr/>
        <p:nvPr/>
      </p:nvGrpSpPr>
      <p:grpSpPr>
        <a:xfrm>
          <a:off x="0" y="0"/>
          <a:ext cx="0" cy="0"/>
          <a:chOff x="0" y="0"/>
          <a:chExt cx="0" cy="0"/>
        </a:xfrm>
      </p:grpSpPr>
      <p:grpSp>
        <p:nvGrpSpPr>
          <p:cNvPr name="Group 2" id="2"/>
          <p:cNvGrpSpPr/>
          <p:nvPr/>
        </p:nvGrpSpPr>
        <p:grpSpPr>
          <a:xfrm rot="5400000">
            <a:off x="13250475" y="-1845697"/>
            <a:ext cx="5567067" cy="4824412"/>
            <a:chOff x="0" y="0"/>
            <a:chExt cx="7422756" cy="6432550"/>
          </a:xfrm>
        </p:grpSpPr>
        <p:sp>
          <p:nvSpPr>
            <p:cNvPr name="Freeform 3" id="3"/>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2">
                <a:alphaModFix amt="0"/>
              </a:blip>
              <a:stretch>
                <a:fillRect l="-61187" t="0" r="-61187" b="0"/>
              </a:stretch>
            </a:blipFill>
            <a:ln w="23812" cap="sq">
              <a:solidFill>
                <a:srgbClr val="4FA278"/>
              </a:solidFill>
              <a:prstDash val="solid"/>
              <a:miter/>
            </a:ln>
          </p:spPr>
        </p:sp>
      </p:grpSp>
      <p:grpSp>
        <p:nvGrpSpPr>
          <p:cNvPr name="Group 4" id="4"/>
          <p:cNvGrpSpPr/>
          <p:nvPr/>
        </p:nvGrpSpPr>
        <p:grpSpPr>
          <a:xfrm rot="5400000">
            <a:off x="15774219" y="2525554"/>
            <a:ext cx="5567067" cy="4824412"/>
            <a:chOff x="0" y="0"/>
            <a:chExt cx="7422756" cy="6432550"/>
          </a:xfrm>
        </p:grpSpPr>
        <p:sp>
          <p:nvSpPr>
            <p:cNvPr name="Freeform 5" id="5"/>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name="Group 6" id="6"/>
          <p:cNvGrpSpPr/>
          <p:nvPr/>
        </p:nvGrpSpPr>
        <p:grpSpPr>
          <a:xfrm rot="5400000">
            <a:off x="13250475" y="6896805"/>
            <a:ext cx="5567067" cy="4824412"/>
            <a:chOff x="0" y="0"/>
            <a:chExt cx="7422756" cy="6432550"/>
          </a:xfrm>
        </p:grpSpPr>
        <p:sp>
          <p:nvSpPr>
            <p:cNvPr name="Freeform 7" id="7"/>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2">
                <a:alphaModFix amt="0"/>
              </a:blip>
              <a:stretch>
                <a:fillRect l="-61187" t="0" r="-61187" b="0"/>
              </a:stretch>
            </a:blipFill>
            <a:ln w="23812" cap="sq">
              <a:solidFill>
                <a:srgbClr val="4FA278"/>
              </a:solidFill>
              <a:prstDash val="solid"/>
              <a:miter/>
            </a:ln>
          </p:spPr>
        </p:sp>
      </p:grpSp>
      <p:grpSp>
        <p:nvGrpSpPr>
          <p:cNvPr name="Group 8" id="8"/>
          <p:cNvGrpSpPr/>
          <p:nvPr/>
        </p:nvGrpSpPr>
        <p:grpSpPr>
          <a:xfrm rot="5400000">
            <a:off x="9920040" y="4766310"/>
            <a:ext cx="871080" cy="754380"/>
            <a:chOff x="0" y="0"/>
            <a:chExt cx="1161440" cy="1005840"/>
          </a:xfrm>
        </p:grpSpPr>
        <p:sp>
          <p:nvSpPr>
            <p:cNvPr name="Freeform 9" id="9"/>
            <p:cNvSpPr/>
            <p:nvPr/>
          </p:nvSpPr>
          <p:spPr>
            <a:xfrm flipH="false" flipV="false" rot="0">
              <a:off x="0" y="0"/>
              <a:ext cx="1161415" cy="1005840"/>
            </a:xfrm>
            <a:custGeom>
              <a:avLst/>
              <a:gdLst/>
              <a:ahLst/>
              <a:cxnLst/>
              <a:rect r="r" b="b" t="t" l="l"/>
              <a:pathLst>
                <a:path h="1005840" w="1161415">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name="Group 10" id="10"/>
          <p:cNvGrpSpPr/>
          <p:nvPr/>
        </p:nvGrpSpPr>
        <p:grpSpPr>
          <a:xfrm rot="5400000">
            <a:off x="16274377" y="2592324"/>
            <a:ext cx="506816" cy="438912"/>
            <a:chOff x="0" y="0"/>
            <a:chExt cx="675754" cy="585216"/>
          </a:xfrm>
        </p:grpSpPr>
        <p:sp>
          <p:nvSpPr>
            <p:cNvPr name="Freeform 11" id="11"/>
            <p:cNvSpPr/>
            <p:nvPr/>
          </p:nvSpPr>
          <p:spPr>
            <a:xfrm flipH="false" flipV="false" rot="0">
              <a:off x="0" y="0"/>
              <a:ext cx="675767" cy="585216"/>
            </a:xfrm>
            <a:custGeom>
              <a:avLst/>
              <a:gdLst/>
              <a:ahLst/>
              <a:cxnLst/>
              <a:rect r="r" b="b" t="t" l="l"/>
              <a:pathLst>
                <a:path h="585216" w="675767">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name="Group 12" id="12"/>
          <p:cNvGrpSpPr/>
          <p:nvPr/>
        </p:nvGrpSpPr>
        <p:grpSpPr>
          <a:xfrm rot="5400000">
            <a:off x="10303088" y="2160270"/>
            <a:ext cx="6414335" cy="5554980"/>
            <a:chOff x="0" y="0"/>
            <a:chExt cx="8552447" cy="7406640"/>
          </a:xfrm>
        </p:grpSpPr>
        <p:sp>
          <p:nvSpPr>
            <p:cNvPr name="Freeform 13" id="13"/>
            <p:cNvSpPr/>
            <p:nvPr/>
          </p:nvSpPr>
          <p:spPr>
            <a:xfrm flipH="false" flipV="false" rot="0">
              <a:off x="0" y="0"/>
              <a:ext cx="8552434" cy="7406640"/>
            </a:xfrm>
            <a:custGeom>
              <a:avLst/>
              <a:gdLst/>
              <a:ahLst/>
              <a:cxnLst/>
              <a:rect r="r" b="b" t="t" l="l"/>
              <a:pathLst>
                <a:path h="7406640" w="8552434">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name="Group 14" id="14"/>
          <p:cNvGrpSpPr/>
          <p:nvPr/>
        </p:nvGrpSpPr>
        <p:grpSpPr>
          <a:xfrm rot="5400000">
            <a:off x="10119255" y="7186612"/>
            <a:ext cx="1295600" cy="1125855"/>
            <a:chOff x="0" y="0"/>
            <a:chExt cx="1727467" cy="1501140"/>
          </a:xfrm>
        </p:grpSpPr>
        <p:sp>
          <p:nvSpPr>
            <p:cNvPr name="Freeform 15" id="15"/>
            <p:cNvSpPr/>
            <p:nvPr/>
          </p:nvSpPr>
          <p:spPr>
            <a:xfrm flipH="false" flipV="false" rot="0">
              <a:off x="0" y="0"/>
              <a:ext cx="1727454" cy="1501140"/>
            </a:xfrm>
            <a:custGeom>
              <a:avLst/>
              <a:gdLst/>
              <a:ahLst/>
              <a:cxnLst/>
              <a:rect r="r" b="b" t="t" l="l"/>
              <a:pathLst>
                <a:path h="1501140" w="1727454">
                  <a:moveTo>
                    <a:pt x="0" y="750570"/>
                  </a:moveTo>
                  <a:lnTo>
                    <a:pt x="375285" y="0"/>
                  </a:lnTo>
                  <a:lnTo>
                    <a:pt x="1352169" y="0"/>
                  </a:lnTo>
                  <a:lnTo>
                    <a:pt x="1727454" y="750570"/>
                  </a:lnTo>
                  <a:lnTo>
                    <a:pt x="1352169" y="1501140"/>
                  </a:lnTo>
                  <a:lnTo>
                    <a:pt x="375285" y="1501140"/>
                  </a:lnTo>
                  <a:close/>
                </a:path>
              </a:pathLst>
            </a:custGeom>
            <a:blipFill>
              <a:blip r:embed="rId2">
                <a:alphaModFix amt="0"/>
              </a:blip>
              <a:stretch>
                <a:fillRect l="-61494" t="0" r="-61494" b="0"/>
              </a:stretch>
            </a:blipFill>
            <a:ln w="28575" cap="sq">
              <a:solidFill>
                <a:srgbClr val="7AC143"/>
              </a:solidFill>
              <a:prstDash val="solid"/>
              <a:miter/>
            </a:ln>
          </p:spPr>
        </p:sp>
      </p:grpSp>
      <p:grpSp>
        <p:nvGrpSpPr>
          <p:cNvPr name="Group 16" id="16"/>
          <p:cNvGrpSpPr/>
          <p:nvPr/>
        </p:nvGrpSpPr>
        <p:grpSpPr>
          <a:xfrm rot="5400000">
            <a:off x="10710062" y="2508885"/>
            <a:ext cx="5600405" cy="4857750"/>
            <a:chOff x="0" y="0"/>
            <a:chExt cx="7467206" cy="6477000"/>
          </a:xfrm>
        </p:grpSpPr>
        <p:sp>
          <p:nvSpPr>
            <p:cNvPr name="Freeform 17" id="17"/>
            <p:cNvSpPr/>
            <p:nvPr/>
          </p:nvSpPr>
          <p:spPr>
            <a:xfrm flipH="false" flipV="false" rot="0">
              <a:off x="0" y="0"/>
              <a:ext cx="7467219" cy="6477000"/>
            </a:xfrm>
            <a:custGeom>
              <a:avLst/>
              <a:gdLst/>
              <a:ahLst/>
              <a:cxnLst/>
              <a:rect r="r" b="b" t="t" l="l"/>
              <a:pathLst>
                <a:path h="6477000" w="7467219">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name="Group 18" id="18"/>
          <p:cNvGrpSpPr/>
          <p:nvPr/>
        </p:nvGrpSpPr>
        <p:grpSpPr>
          <a:xfrm rot="0">
            <a:off x="12166149" y="3188970"/>
            <a:ext cx="2688222" cy="3497580"/>
            <a:chOff x="0" y="0"/>
            <a:chExt cx="3584296" cy="4663440"/>
          </a:xfrm>
        </p:grpSpPr>
        <p:sp>
          <p:nvSpPr>
            <p:cNvPr name="Freeform 19" id="19" descr="Genesis logo"/>
            <p:cNvSpPr/>
            <p:nvPr/>
          </p:nvSpPr>
          <p:spPr>
            <a:xfrm flipH="false" flipV="false" rot="0">
              <a:off x="0" y="0"/>
              <a:ext cx="3584321" cy="4663440"/>
            </a:xfrm>
            <a:custGeom>
              <a:avLst/>
              <a:gdLst/>
              <a:ahLst/>
              <a:cxnLst/>
              <a:rect r="r" b="b" t="t" l="l"/>
              <a:pathLst>
                <a:path h="4663440" w="3584321">
                  <a:moveTo>
                    <a:pt x="0" y="0"/>
                  </a:moveTo>
                  <a:lnTo>
                    <a:pt x="3584321" y="0"/>
                  </a:lnTo>
                  <a:lnTo>
                    <a:pt x="3584321" y="4663440"/>
                  </a:lnTo>
                  <a:lnTo>
                    <a:pt x="0" y="4663440"/>
                  </a:lnTo>
                  <a:lnTo>
                    <a:pt x="0" y="0"/>
                  </a:lnTo>
                  <a:close/>
                </a:path>
              </a:pathLst>
            </a:custGeom>
            <a:blipFill>
              <a:blip r:embed="rId3"/>
              <a:stretch>
                <a:fillRect l="0" t="0" r="0" b="0"/>
              </a:stretch>
            </a:blipFill>
          </p:spPr>
        </p:sp>
      </p:grpSp>
      <p:grpSp>
        <p:nvGrpSpPr>
          <p:cNvPr name="Group 20" id="20"/>
          <p:cNvGrpSpPr/>
          <p:nvPr/>
        </p:nvGrpSpPr>
        <p:grpSpPr>
          <a:xfrm rot="0">
            <a:off x="822960" y="754380"/>
            <a:ext cx="7955280" cy="480060"/>
            <a:chOff x="0" y="0"/>
            <a:chExt cx="10607040" cy="640080"/>
          </a:xfrm>
        </p:grpSpPr>
        <p:sp>
          <p:nvSpPr>
            <p:cNvPr name="Freeform 21" id="21"/>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22" id="22"/>
            <p:cNvSpPr txBox="true"/>
            <p:nvPr/>
          </p:nvSpPr>
          <p:spPr>
            <a:xfrm>
              <a:off x="0" y="-38100"/>
              <a:ext cx="10607040" cy="678180"/>
            </a:xfrm>
            <a:prstGeom prst="rect">
              <a:avLst/>
            </a:prstGeom>
          </p:spPr>
          <p:txBody>
            <a:bodyPr anchor="ctr" rtlCol="false" tIns="0" lIns="0" bIns="0" rIns="0"/>
            <a:lstStyle/>
            <a:p>
              <a:pPr algn="l">
                <a:lnSpc>
                  <a:spcPts val="2160"/>
                </a:lnSpc>
              </a:pPr>
              <a:r>
                <a:rPr lang="en-US" b="true" sz="1800" spc="599">
                  <a:solidFill>
                    <a:srgbClr val="7AC143"/>
                  </a:solidFill>
                  <a:latin typeface="Calibri (MS) Bold"/>
                  <a:ea typeface="Calibri (MS) Bold"/>
                  <a:cs typeface="Calibri (MS) Bold"/>
                  <a:sym typeface="Calibri (MS) Bold"/>
                </a:rPr>
                <a:t>PRE-IDEATHON TEMPLATE</a:t>
              </a:r>
            </a:p>
          </p:txBody>
        </p:sp>
      </p:grpSp>
      <p:sp>
        <p:nvSpPr>
          <p:cNvPr name="TextBox 23" id="23"/>
          <p:cNvSpPr txBox="true"/>
          <p:nvPr/>
        </p:nvSpPr>
        <p:spPr>
          <a:xfrm rot="0">
            <a:off x="822960" y="1379220"/>
            <a:ext cx="8503920" cy="2324100"/>
          </a:xfrm>
          <a:prstGeom prst="rect">
            <a:avLst/>
          </a:prstGeom>
        </p:spPr>
        <p:txBody>
          <a:bodyPr anchor="t" rtlCol="false" tIns="0" lIns="0" bIns="0" rIns="0">
            <a:spAutoFit/>
          </a:bodyPr>
          <a:lstStyle/>
          <a:p>
            <a:pPr algn="l">
              <a:lnSpc>
                <a:spcPts val="8748"/>
              </a:lnSpc>
            </a:pPr>
            <a:r>
              <a:rPr lang="en-US" b="true" sz="8100" spc="299">
                <a:solidFill>
                  <a:srgbClr val="FFFFFF"/>
                </a:solidFill>
                <a:latin typeface="Cambria Bold"/>
                <a:ea typeface="Cambria Bold"/>
                <a:cs typeface="Cambria Bold"/>
                <a:sym typeface="Cambria Bold"/>
              </a:rPr>
              <a:t>GENESIS</a:t>
            </a:r>
          </a:p>
          <a:p>
            <a:pPr algn="l">
              <a:lnSpc>
                <a:spcPts val="8748"/>
              </a:lnSpc>
            </a:pPr>
            <a:r>
              <a:rPr lang="en-US" b="true" sz="8100" spc="299">
                <a:solidFill>
                  <a:srgbClr val="7AC143"/>
                </a:solidFill>
                <a:latin typeface="Cambria Bold"/>
                <a:ea typeface="Cambria Bold"/>
                <a:cs typeface="Cambria Bold"/>
                <a:sym typeface="Cambria Bold"/>
              </a:rPr>
              <a:t>IDEATHON</a:t>
            </a:r>
          </a:p>
        </p:txBody>
      </p:sp>
      <p:grpSp>
        <p:nvGrpSpPr>
          <p:cNvPr name="Group 24" id="24"/>
          <p:cNvGrpSpPr/>
          <p:nvPr/>
        </p:nvGrpSpPr>
        <p:grpSpPr>
          <a:xfrm rot="0">
            <a:off x="811054" y="3897154"/>
            <a:ext cx="3178492" cy="599884"/>
            <a:chOff x="0" y="0"/>
            <a:chExt cx="4237990" cy="799846"/>
          </a:xfrm>
        </p:grpSpPr>
        <p:sp>
          <p:nvSpPr>
            <p:cNvPr name="Freeform 25" id="25"/>
            <p:cNvSpPr/>
            <p:nvPr/>
          </p:nvSpPr>
          <p:spPr>
            <a:xfrm flipH="false" flipV="false" rot="0">
              <a:off x="0" y="0"/>
              <a:ext cx="4237990" cy="799846"/>
            </a:xfrm>
            <a:custGeom>
              <a:avLst/>
              <a:gdLst/>
              <a:ahLst/>
              <a:cxnLst/>
              <a:rect r="r" b="b" t="t" l="l"/>
              <a:pathLst>
                <a:path h="799846" w="4237990">
                  <a:moveTo>
                    <a:pt x="0" y="399923"/>
                  </a:moveTo>
                  <a:cubicBezTo>
                    <a:pt x="0" y="179070"/>
                    <a:pt x="179070" y="0"/>
                    <a:pt x="399923" y="0"/>
                  </a:cubicBezTo>
                  <a:lnTo>
                    <a:pt x="3838067" y="0"/>
                  </a:lnTo>
                  <a:cubicBezTo>
                    <a:pt x="4058920" y="0"/>
                    <a:pt x="4237990" y="179070"/>
                    <a:pt x="4237990" y="399923"/>
                  </a:cubicBezTo>
                  <a:cubicBezTo>
                    <a:pt x="4237990" y="620776"/>
                    <a:pt x="4058920" y="799846"/>
                    <a:pt x="3838067" y="799846"/>
                  </a:cubicBezTo>
                  <a:lnTo>
                    <a:pt x="399923" y="799846"/>
                  </a:lnTo>
                  <a:cubicBezTo>
                    <a:pt x="179070" y="799846"/>
                    <a:pt x="0" y="620776"/>
                    <a:pt x="0" y="399923"/>
                  </a:cubicBezTo>
                  <a:close/>
                </a:path>
              </a:pathLst>
            </a:custGeom>
            <a:blipFill>
              <a:blip r:embed="rId2">
                <a:alphaModFix amt="0"/>
              </a:blip>
              <a:stretch>
                <a:fillRect l="0" t="-53241" r="0" b="-53241"/>
              </a:stretch>
            </a:blipFill>
            <a:ln w="23812" cap="sq">
              <a:solidFill>
                <a:srgbClr val="7AC143"/>
              </a:solidFill>
              <a:prstDash val="solid"/>
              <a:miter/>
            </a:ln>
          </p:spPr>
        </p:sp>
        <p:sp>
          <p:nvSpPr>
            <p:cNvPr name="TextBox 26" id="26"/>
            <p:cNvSpPr txBox="true"/>
            <p:nvPr/>
          </p:nvSpPr>
          <p:spPr>
            <a:xfrm>
              <a:off x="0" y="-47625"/>
              <a:ext cx="4237990" cy="847471"/>
            </a:xfrm>
            <a:prstGeom prst="rect">
              <a:avLst/>
            </a:prstGeom>
          </p:spPr>
          <p:txBody>
            <a:bodyPr anchor="ctr" rtlCol="false" tIns="50800" lIns="50800" bIns="50800" rIns="50800"/>
            <a:lstStyle/>
            <a:p>
              <a:pPr algn="ctr">
                <a:lnSpc>
                  <a:spcPts val="2340"/>
                </a:lnSpc>
              </a:pPr>
              <a:r>
                <a:rPr lang="en-US" b="true" sz="1950" spc="449">
                  <a:solidFill>
                    <a:srgbClr val="FFFFFF"/>
                  </a:solidFill>
                  <a:latin typeface="Calibri (MS) Bold"/>
                  <a:ea typeface="Calibri (MS) Bold"/>
                  <a:cs typeface="Calibri (MS) Bold"/>
                  <a:sym typeface="Calibri (MS) Bold"/>
                </a:rPr>
                <a:t>TEAM &amp; DOMAIN</a:t>
              </a:r>
            </a:p>
          </p:txBody>
        </p:sp>
      </p:grpSp>
      <p:sp>
        <p:nvSpPr>
          <p:cNvPr name="TextBox 27" id="27"/>
          <p:cNvSpPr txBox="true"/>
          <p:nvPr/>
        </p:nvSpPr>
        <p:spPr>
          <a:xfrm rot="0">
            <a:off x="822960" y="5156111"/>
            <a:ext cx="9052560" cy="415290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Team Name – Vishwamithra</a:t>
            </a:r>
          </a:p>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Team Members –  Amirthamirra P      CB.EN.U4ELC25057</a:t>
            </a:r>
          </a:p>
          <a:p>
            <a:pPr algn="l">
              <a:lnSpc>
                <a:spcPts val="3240"/>
              </a:lnSpc>
            </a:pPr>
            <a:r>
              <a:rPr lang="en-US" sz="2700">
                <a:solidFill>
                  <a:srgbClr val="FFFFFF"/>
                </a:solidFill>
                <a:latin typeface="Calibri (MS)"/>
                <a:ea typeface="Calibri (MS)"/>
                <a:cs typeface="Calibri (MS)"/>
                <a:sym typeface="Calibri (MS)"/>
              </a:rPr>
              <a:t>  </a:t>
            </a:r>
            <a:r>
              <a:rPr lang="en-US" sz="2700">
                <a:solidFill>
                  <a:srgbClr val="FFFFFF"/>
                </a:solidFill>
                <a:latin typeface="Calibri (MS)"/>
                <a:ea typeface="Calibri (MS)"/>
                <a:cs typeface="Calibri (MS)"/>
                <a:sym typeface="Calibri (MS)"/>
              </a:rPr>
              <a:t>Dheepika Raja        CB.EN.U4ELC25007</a:t>
            </a:r>
          </a:p>
          <a:p>
            <a:pPr algn="l">
              <a:lnSpc>
                <a:spcPts val="3240"/>
              </a:lnSpc>
            </a:pPr>
            <a:r>
              <a:rPr lang="en-US" sz="2700">
                <a:solidFill>
                  <a:srgbClr val="FFFFFF"/>
                </a:solidFill>
                <a:latin typeface="Calibri (MS)"/>
                <a:ea typeface="Calibri (MS)"/>
                <a:cs typeface="Calibri (MS)"/>
                <a:sym typeface="Calibri (MS)"/>
              </a:rPr>
              <a:t>  </a:t>
            </a:r>
            <a:r>
              <a:rPr lang="en-US" sz="2700">
                <a:solidFill>
                  <a:srgbClr val="FFFFFF"/>
                </a:solidFill>
                <a:latin typeface="Calibri (MS)"/>
                <a:ea typeface="Calibri (MS)"/>
                <a:cs typeface="Calibri (MS)"/>
                <a:sym typeface="Calibri (MS)"/>
              </a:rPr>
              <a:t>Harita J                    CB.EN.U4ELC25013</a:t>
            </a:r>
          </a:p>
          <a:p>
            <a:pPr algn="l">
              <a:lnSpc>
                <a:spcPts val="3240"/>
              </a:lnSpc>
            </a:pPr>
            <a:r>
              <a:rPr lang="en-US" sz="2700">
                <a:solidFill>
                  <a:srgbClr val="FFFFFF"/>
                </a:solidFill>
                <a:latin typeface="Calibri (MS)"/>
                <a:ea typeface="Calibri (MS)"/>
                <a:cs typeface="Calibri (MS)"/>
                <a:sym typeface="Calibri (MS)"/>
              </a:rPr>
              <a:t>  </a:t>
            </a:r>
            <a:r>
              <a:rPr lang="en-US" sz="2700">
                <a:solidFill>
                  <a:srgbClr val="FFFFFF"/>
                </a:solidFill>
                <a:latin typeface="Calibri (MS)"/>
                <a:ea typeface="Calibri (MS)"/>
                <a:cs typeface="Calibri (MS)"/>
                <a:sym typeface="Calibri (MS)"/>
              </a:rPr>
              <a:t>Pooja S                    CB.EN.U4EEE25033</a:t>
            </a:r>
          </a:p>
          <a:p>
            <a:pPr algn="l">
              <a:lnSpc>
                <a:spcPts val="3240"/>
              </a:lnSpc>
            </a:pPr>
          </a:p>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Selected Domain – 4</a:t>
            </a:r>
          </a:p>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Problem Statement – Development of a Biofouling Resilient, Solar Powered IoT Node for Low Maintenance Rural Water Quality Monitoring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602004" y="-442600"/>
            <a:ext cx="11247120" cy="2637160"/>
            <a:chOff x="0" y="0"/>
            <a:chExt cx="14996160" cy="3516213"/>
          </a:xfrm>
        </p:grpSpPr>
        <p:sp>
          <p:nvSpPr>
            <p:cNvPr name="Freeform 20" id="20"/>
            <p:cNvSpPr/>
            <p:nvPr/>
          </p:nvSpPr>
          <p:spPr>
            <a:xfrm flipH="false" flipV="false" rot="0">
              <a:off x="0" y="0"/>
              <a:ext cx="14996161" cy="3516213"/>
            </a:xfrm>
            <a:custGeom>
              <a:avLst/>
              <a:gdLst/>
              <a:ahLst/>
              <a:cxnLst/>
              <a:rect r="r" b="b" t="t" l="l"/>
              <a:pathLst>
                <a:path h="3516213" w="14996161">
                  <a:moveTo>
                    <a:pt x="0" y="0"/>
                  </a:moveTo>
                  <a:lnTo>
                    <a:pt x="14996161" y="0"/>
                  </a:lnTo>
                  <a:lnTo>
                    <a:pt x="14996161" y="3516213"/>
                  </a:lnTo>
                  <a:lnTo>
                    <a:pt x="0" y="3516213"/>
                  </a:lnTo>
                  <a:close/>
                </a:path>
              </a:pathLst>
            </a:custGeom>
            <a:blipFill>
              <a:blip r:embed="rId3">
                <a:alphaModFix amt="0"/>
              </a:blip>
              <a:stretch>
                <a:fillRect l="0" t="-59696" r="0" b="-6505"/>
              </a:stretch>
            </a:blipFill>
          </p:spPr>
        </p:sp>
        <p:sp>
          <p:nvSpPr>
            <p:cNvPr name="TextBox 21" id="21"/>
            <p:cNvSpPr txBox="true"/>
            <p:nvPr/>
          </p:nvSpPr>
          <p:spPr>
            <a:xfrm>
              <a:off x="0" y="-19050"/>
              <a:ext cx="14996160" cy="3535263"/>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DOMAIN PROBLEM IN OUR WORDS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35" id="35"/>
          <p:cNvSpPr txBox="true"/>
          <p:nvPr/>
        </p:nvSpPr>
        <p:spPr>
          <a:xfrm rot="0">
            <a:off x="1652778" y="1924680"/>
            <a:ext cx="15636240" cy="7839075"/>
          </a:xfrm>
          <a:prstGeom prst="rect">
            <a:avLst/>
          </a:prstGeom>
        </p:spPr>
        <p:txBody>
          <a:bodyPr anchor="t" rtlCol="false" tIns="0" lIns="0" bIns="0" rIns="0">
            <a:spAutoFit/>
          </a:bodyPr>
          <a:lstStyle/>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Every morning, a village wakes up to the quiet presence of its pond. Farmers depend on it for irrigation, families rely on its water, and the entire community needs it to remain safe. To monitor its condition, a small solar-powered sensor node is placed in the pond. It measures pH, turbidity, total dissolved solids (TDS), and dissolved oxygen (DO), sending readings through LoRa to a remote monitoring system.</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At first, everything works well. The readings help the community keep track of changes in water quality without frequent manual testing. But as weeks pass, algae, bacteria, and organic matter begin to coat the submerged sensors. A thin layer of biofilm slowly grows over their surfaces, affecting their ability to measure the water accurately.</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Soon, the readings become unreliable. The system may report contamination when the water has not changed, or fail to reflect a genuine change. False alarms worry villagers, while repeated inaccurate reports gradually destroy their trust in the monitoring system. Technicians must travel long distances to clean, recalibrate, and maintain the equipment, increasing costs.</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Attempts to fix the problem bring new difficulties. Mechanical wipers jam or wear out underwater. Continuous UV cleaning drains the battery, especially during monsoon and overcast periods when solar charging is limited. Chemical coatings gradually degrade and may release substances into the pond.</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The problem we set out to solve: How can a solar-powered rural water monitoring node distinguish genuine water contamination from biofouling-induced sensor errors while remaining reliable, energy-efficient, and affordable to maintain?</a:t>
            </a:r>
          </a:p>
          <a:p>
            <a:pPr algn="l">
              <a:lnSpc>
                <a:spcPts val="3240"/>
              </a:lnSpc>
            </a:pPr>
          </a:p>
        </p:txBody>
      </p:sp>
      <p:grpSp>
        <p:nvGrpSpPr>
          <p:cNvPr name="Group 36" id="36"/>
          <p:cNvGrpSpPr/>
          <p:nvPr/>
        </p:nvGrpSpPr>
        <p:grpSpPr>
          <a:xfrm rot="0">
            <a:off x="16888511" y="9614916"/>
            <a:ext cx="685800" cy="593903"/>
            <a:chOff x="0" y="0"/>
            <a:chExt cx="914400" cy="791870"/>
          </a:xfrm>
        </p:grpSpPr>
        <p:sp>
          <p:nvSpPr>
            <p:cNvPr name="Freeform 37" id="37"/>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8" id="38"/>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3">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WHO IS AFFECTED?</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32" id="32"/>
          <p:cNvSpPr txBox="true"/>
          <p:nvPr/>
        </p:nvSpPr>
        <p:spPr>
          <a:xfrm rot="0">
            <a:off x="1938071" y="2137410"/>
            <a:ext cx="15636240" cy="5381625"/>
          </a:xfrm>
          <a:prstGeom prst="rect">
            <a:avLst/>
          </a:prstGeom>
        </p:spPr>
        <p:txBody>
          <a:bodyPr anchor="t" rtlCol="false" tIns="0" lIns="0" bIns="0" rIns="0">
            <a:spAutoFit/>
          </a:bodyPr>
          <a:lstStyle/>
          <a:p>
            <a:pPr algn="l">
              <a:lnSpc>
                <a:spcPts val="3240"/>
              </a:lnSpc>
            </a:pPr>
            <a:r>
              <a:rPr lang="en-US" sz="2700" b="true">
                <a:solidFill>
                  <a:srgbClr val="0E2A2F"/>
                </a:solidFill>
                <a:latin typeface="Calibri (MS) Bold"/>
                <a:ea typeface="Calibri (MS) Bold"/>
                <a:cs typeface="Calibri (MS) Bold"/>
                <a:sym typeface="Calibri (MS) Bold"/>
              </a:rPr>
              <a:t>Primary users / target group</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State &amp; Regional Water Boards (e.g., SWSM Tamil Nadu, TNPCB)</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Field Environmental Researchers</a:t>
            </a:r>
          </a:p>
          <a:p>
            <a:pPr algn="l">
              <a:lnSpc>
                <a:spcPts val="3240"/>
              </a:lnSpc>
            </a:pPr>
            <a:r>
              <a:rPr lang="en-US" sz="2700" b="true">
                <a:solidFill>
                  <a:srgbClr val="0E2A2F"/>
                </a:solidFill>
                <a:latin typeface="Calibri (MS) Bold"/>
                <a:ea typeface="Calibri (MS) Bold"/>
                <a:cs typeface="Calibri (MS) Bold"/>
                <a:sym typeface="Calibri (MS) Bold"/>
              </a:rPr>
              <a:t>Secondary stakeholders</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National Regulators &amp; Framework Authorities (Central Pollution Control Board - CPCB)</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National Policy &amp; Funding Bodies</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Research Institutions &amp; Validation Partners (ICAR - CIFRI, C-DAC)</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Gram Panchayats &amp; Village Water Committees (VWSCs / Paani Samitis)</a:t>
            </a:r>
          </a:p>
          <a:p>
            <a:pPr algn="l">
              <a:lnSpc>
                <a:spcPts val="3240"/>
              </a:lnSpc>
            </a:pPr>
            <a:r>
              <a:rPr lang="en-US" sz="2700" b="true">
                <a:solidFill>
                  <a:srgbClr val="0E2A2F"/>
                </a:solidFill>
                <a:latin typeface="Calibri (MS) Bold"/>
                <a:ea typeface="Calibri (MS) Bold"/>
                <a:cs typeface="Calibri (MS) Bold"/>
                <a:sym typeface="Calibri (MS) Bold"/>
              </a:rPr>
              <a:t>Who benefits if the problem is solved?</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Rural Communities &amp; End Consumers (Public Health)</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High-Volume Industrial Operators (Thermal Power, Mining, Utilities)</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State Water &amp; Sanitation Authorities / Jal Jeevan Mission (Fiscal &amp; Operational)</a:t>
            </a:r>
          </a:p>
          <a:p>
            <a:pPr algn="l">
              <a:lnSpc>
                <a:spcPts val="3240"/>
              </a:lnSpc>
            </a:pP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3</a:t>
              </a:r>
            </a:p>
          </p:txBody>
        </p:sp>
      </p:grpSp>
      <p:grpSp>
        <p:nvGrpSpPr>
          <p:cNvPr name="Group 36" id="36"/>
          <p:cNvGrpSpPr/>
          <p:nvPr/>
        </p:nvGrpSpPr>
        <p:grpSpPr>
          <a:xfrm rot="0">
            <a:off x="2057400" y="576072"/>
            <a:ext cx="2441448" cy="1042416"/>
            <a:chOff x="0" y="0"/>
            <a:chExt cx="3255264" cy="1389888"/>
          </a:xfrm>
        </p:grpSpPr>
        <p:sp>
          <p:nvSpPr>
            <p:cNvPr name="Freeform 37" id="3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8" id="38"/>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3">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CURRENT SITUATION &amp; CONTEXT</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32" id="32"/>
          <p:cNvSpPr txBox="true"/>
          <p:nvPr/>
        </p:nvSpPr>
        <p:spPr>
          <a:xfrm rot="0">
            <a:off x="1984619" y="2137410"/>
            <a:ext cx="15400496" cy="7086600"/>
          </a:xfrm>
          <a:prstGeom prst="rect">
            <a:avLst/>
          </a:prstGeom>
        </p:spPr>
        <p:txBody>
          <a:bodyPr anchor="t" rtlCol="false" tIns="0" lIns="0" bIns="0" rIns="0">
            <a:spAutoFit/>
          </a:bodyPr>
          <a:lstStyle/>
          <a:p>
            <a:pPr algn="l">
              <a:lnSpc>
                <a:spcPts val="3101"/>
              </a:lnSpc>
            </a:pPr>
            <a:r>
              <a:rPr lang="en-US" sz="2584" b="true">
                <a:solidFill>
                  <a:srgbClr val="0E2A2F"/>
                </a:solidFill>
                <a:latin typeface="Calibri (MS) Bold"/>
                <a:ea typeface="Calibri (MS) Bold"/>
                <a:cs typeface="Calibri (MS) Bold"/>
                <a:sym typeface="Calibri (MS) Bold"/>
              </a:rPr>
              <a:t>Existing Scenario and Background</a:t>
            </a:r>
          </a:p>
          <a:p>
            <a:pPr algn="l" marL="557989" indent="-278994" lvl="1">
              <a:lnSpc>
                <a:spcPts val="3101"/>
              </a:lnSpc>
              <a:buFont typeface="Arial"/>
              <a:buChar char="•"/>
            </a:pPr>
            <a:r>
              <a:rPr lang="en-US" sz="2584">
                <a:solidFill>
                  <a:srgbClr val="0E2A2F"/>
                </a:solidFill>
                <a:latin typeface="Calibri (MS)"/>
                <a:ea typeface="Calibri (MS)"/>
                <a:cs typeface="Calibri (MS)"/>
                <a:sym typeface="Calibri (MS)"/>
              </a:rPr>
              <a:t>Groundwater &amp; Local Water Reliance: Millions of rural residents in regions like Bangladesh, Southern Luzon (Philippines), and other off-grid areas rely on unmonitored artesian wells, deep wells, springs, cisterns, or sea/groundwater for drinking. </a:t>
            </a:r>
          </a:p>
          <a:p>
            <a:pPr algn="l" marL="557989" indent="-278994" lvl="1">
              <a:lnSpc>
                <a:spcPts val="3101"/>
              </a:lnSpc>
              <a:buFont typeface="Arial"/>
              <a:buChar char="•"/>
            </a:pPr>
            <a:r>
              <a:rPr lang="en-US" sz="2584">
                <a:solidFill>
                  <a:srgbClr val="0E2A2F"/>
                </a:solidFill>
                <a:latin typeface="Calibri (MS)"/>
                <a:ea typeface="Calibri (MS)"/>
                <a:cs typeface="Calibri (MS)"/>
                <a:sym typeface="Calibri (MS)"/>
              </a:rPr>
              <a:t>Current IoT monitoring setups often remain grid-dependent, short-range, and vulnerable to degradation under harsh weather. Meanwhile, conventional purification systems (like standard RO) are unaffordable, grid-tied, waste up to three-fourths of input water, and strip essential minerals (Ca, Fe, Na).</a:t>
            </a:r>
          </a:p>
          <a:p>
            <a:pPr algn="l">
              <a:lnSpc>
                <a:spcPts val="3101"/>
              </a:lnSpc>
            </a:pPr>
            <a:r>
              <a:rPr lang="en-US" sz="2584" b="true">
                <a:solidFill>
                  <a:srgbClr val="0E2A2F"/>
                </a:solidFill>
                <a:latin typeface="Calibri (MS) Bold"/>
                <a:ea typeface="Calibri (MS) Bold"/>
                <a:cs typeface="Calibri (MS) Bold"/>
                <a:sym typeface="Calibri (MS) Bold"/>
              </a:rPr>
              <a:t>Relevant Data or Facts</a:t>
            </a:r>
          </a:p>
          <a:p>
            <a:pPr algn="l" marL="557989" indent="-278994" lvl="1">
              <a:lnSpc>
                <a:spcPts val="3101"/>
              </a:lnSpc>
              <a:buFont typeface="Arial"/>
              <a:buChar char="•"/>
            </a:pPr>
            <a:r>
              <a:rPr lang="en-US" sz="2584">
                <a:solidFill>
                  <a:srgbClr val="0E2A2F"/>
                </a:solidFill>
                <a:latin typeface="Calibri (MS)"/>
                <a:ea typeface="Calibri (MS)"/>
                <a:cs typeface="Calibri (MS)"/>
                <a:sym typeface="Calibri (MS)"/>
              </a:rPr>
              <a:t>Impacted Populations: 2.2 billion people globally lack access to safely managed drinking water. In Bangladesh, 60 million people consume water potentially contaminated by arsenic. </a:t>
            </a:r>
          </a:p>
          <a:p>
            <a:pPr algn="l" marL="557989" indent="-278994" lvl="1">
              <a:lnSpc>
                <a:spcPts val="3101"/>
              </a:lnSpc>
              <a:buFont typeface="Arial"/>
              <a:buChar char="•"/>
            </a:pPr>
            <a:r>
              <a:rPr lang="en-US" sz="2584">
                <a:solidFill>
                  <a:srgbClr val="0E2A2F"/>
                </a:solidFill>
                <a:latin typeface="Calibri (MS)"/>
                <a:ea typeface="Calibri (MS)"/>
                <a:cs typeface="Calibri (MS)"/>
                <a:sym typeface="Calibri (MS)"/>
              </a:rPr>
              <a:t>Health &amp; Mortality Metrics: 1.8 million people die annually from microbial contamination and untreated water. 297,000 children under 5 die yearly from diarrheal diseases related to poor water/hygiene. </a:t>
            </a:r>
          </a:p>
          <a:p>
            <a:pPr algn="l" marL="557989" indent="-278994" lvl="1">
              <a:lnSpc>
                <a:spcPts val="3101"/>
              </a:lnSpc>
              <a:buFont typeface="Arial"/>
              <a:buChar char="•"/>
            </a:pPr>
            <a:r>
              <a:rPr lang="en-US" sz="2584">
                <a:solidFill>
                  <a:srgbClr val="0E2A2F"/>
                </a:solidFill>
                <a:latin typeface="Calibri (MS)"/>
                <a:ea typeface="Calibri (MS)"/>
                <a:cs typeface="Calibri (MS)"/>
                <a:sym typeface="Calibri (MS)"/>
              </a:rPr>
              <a:t>Basic Water Needs: 4 liters of water is the minimum daily requirement per person. In Haiti, a solar-powered filtration system provides pure drinking water to 200 children. </a:t>
            </a:r>
          </a:p>
          <a:p>
            <a:pPr algn="l" marL="557989" indent="-278994" lvl="1">
              <a:lnSpc>
                <a:spcPts val="3101"/>
              </a:lnSpc>
              <a:buFont typeface="Arial"/>
              <a:buChar char="•"/>
            </a:pPr>
            <a:r>
              <a:rPr lang="en-US" sz="2584">
                <a:solidFill>
                  <a:srgbClr val="0E2A2F"/>
                </a:solidFill>
                <a:latin typeface="Calibri (MS)"/>
                <a:ea typeface="Calibri (MS)"/>
                <a:cs typeface="Calibri (MS)"/>
                <a:sym typeface="Calibri (MS)"/>
              </a:rPr>
              <a:t>Technical &amp; Operational Specs: Prior LoRaWAN systems achieved 36 hours of continuous battery operation on solar power. Microcontrollers (TTGO LoRa32) demonstrated 2 km of data transmission range. Standard RO systems discard 75% of input water and require membrane replacements approximately once a year.</a:t>
            </a:r>
          </a:p>
          <a:p>
            <a:pPr algn="l">
              <a:lnSpc>
                <a:spcPts val="3101"/>
              </a:lnSpc>
            </a:pPr>
            <a:r>
              <a:rPr lang="en-US" sz="2584">
                <a:solidFill>
                  <a:srgbClr val="0E2A2F"/>
                </a:solidFill>
                <a:latin typeface="Calibri (MS)"/>
                <a:ea typeface="Calibri (MS)"/>
                <a:cs typeface="Calibri (MS)"/>
                <a:sym typeface="Calibri (MS)"/>
              </a:rPr>
              <a:t> </a:t>
            </a: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4</a:t>
              </a:r>
            </a:p>
          </p:txBody>
        </p:sp>
      </p:grpSp>
      <p:grpSp>
        <p:nvGrpSpPr>
          <p:cNvPr name="Group 36" id="36"/>
          <p:cNvGrpSpPr/>
          <p:nvPr/>
        </p:nvGrpSpPr>
        <p:grpSpPr>
          <a:xfrm rot="0">
            <a:off x="2057400" y="576072"/>
            <a:ext cx="2441448" cy="1042416"/>
            <a:chOff x="0" y="0"/>
            <a:chExt cx="3255264" cy="1389888"/>
          </a:xfrm>
        </p:grpSpPr>
        <p:sp>
          <p:nvSpPr>
            <p:cNvPr name="Freeform 37" id="3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8" id="38"/>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3">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KEY CHALLENGES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32" id="32"/>
          <p:cNvSpPr txBox="true"/>
          <p:nvPr/>
        </p:nvSpPr>
        <p:spPr>
          <a:xfrm rot="0">
            <a:off x="2057400" y="2185416"/>
            <a:ext cx="15636240" cy="7019925"/>
          </a:xfrm>
          <a:prstGeom prst="rect">
            <a:avLst/>
          </a:prstGeom>
        </p:spPr>
        <p:txBody>
          <a:bodyPr anchor="t" rtlCol="false" tIns="0" lIns="0" bIns="0" rIns="0">
            <a:spAutoFit/>
          </a:bodyPr>
          <a:lstStyle/>
          <a:p>
            <a:pPr algn="l">
              <a:lnSpc>
                <a:spcPts val="3240"/>
              </a:lnSpc>
            </a:pPr>
            <a:r>
              <a:rPr lang="en-US" sz="2700" b="true">
                <a:solidFill>
                  <a:srgbClr val="0E2A2F"/>
                </a:solidFill>
                <a:latin typeface="Calibri (MS) Bold"/>
                <a:ea typeface="Calibri (MS) Bold"/>
                <a:cs typeface="Calibri (MS) Bold"/>
                <a:sym typeface="Calibri (MS) Bold"/>
              </a:rPr>
              <a:t>Main Difficulties &amp; Bottlenecks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Sensor fouling and drift: Deposits on probes slowly skew readings, often with no visible fault.</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Cleaning vs. damage: Aggressive cleaning scratches optics and wears membranes; gentle cleaning leaves residue.</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Limited solar energy: Cloud, monsoon and shading shrink the power budget for cleaning, sensing and transmission.</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Remote maintenance: Distant sites and scarce technicians let faults persist for weeks.</a:t>
            </a:r>
          </a:p>
          <a:p>
            <a:pPr algn="l">
              <a:lnSpc>
                <a:spcPts val="3240"/>
              </a:lnSpc>
            </a:pPr>
            <a:r>
              <a:rPr lang="en-US" sz="2700" b="true">
                <a:solidFill>
                  <a:srgbClr val="0E2A2F"/>
                </a:solidFill>
                <a:latin typeface="Calibri (MS) Bold"/>
                <a:ea typeface="Calibri (MS) Bold"/>
                <a:cs typeface="Calibri (MS) Bold"/>
                <a:sym typeface="Calibri (MS) Bold"/>
              </a:rPr>
              <a:t>Root Causes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Biofilm buildup: Microbes colonize within days and harden into a stubborn layer.</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Rigid fixed-interval cleaning: Timer-based cleaning under-cleans during blooms and over-cleans in clear periods.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No intelligent edge alarms: The node cannot tell real contamination from fouling artifacts.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No recovery verification: Nothing confirms the sensor returned to baseline after cleaning.</a:t>
            </a:r>
          </a:p>
          <a:p>
            <a:pPr algn="l">
              <a:lnSpc>
                <a:spcPts val="3240"/>
              </a:lnSpc>
            </a:pPr>
            <a:r>
              <a:rPr lang="en-US" sz="2700" b="true">
                <a:solidFill>
                  <a:srgbClr val="0E2A2F"/>
                </a:solidFill>
                <a:latin typeface="Calibri (MS) Bold"/>
                <a:ea typeface="Calibri (MS) Bold"/>
                <a:cs typeface="Calibri (MS) Bold"/>
                <a:sym typeface="Calibri (MS) Bold"/>
              </a:rPr>
              <a:t>Consequences if Unsolved</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False alarms and missed contamination: Lost trust and real public-health risk.</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Compromised data records: Drifted, unverified data weakens trends and compliance.</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Higher operating costs: Frequent field trips, recalibration and early sensor replacement.</a:t>
            </a: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5</a:t>
              </a:r>
            </a:p>
          </p:txBody>
        </p:sp>
      </p:grpSp>
      <p:grpSp>
        <p:nvGrpSpPr>
          <p:cNvPr name="Group 36" id="36"/>
          <p:cNvGrpSpPr/>
          <p:nvPr/>
        </p:nvGrpSpPr>
        <p:grpSpPr>
          <a:xfrm rot="0">
            <a:off x="2057400" y="576072"/>
            <a:ext cx="2441448" cy="1042416"/>
            <a:chOff x="0" y="0"/>
            <a:chExt cx="3255264" cy="1389888"/>
          </a:xfrm>
        </p:grpSpPr>
        <p:sp>
          <p:nvSpPr>
            <p:cNvPr name="Freeform 37" id="3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8" id="38"/>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3">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KEY CHALLENGES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32" id="32"/>
          <p:cNvSpPr txBox="true"/>
          <p:nvPr/>
        </p:nvSpPr>
        <p:spPr>
          <a:xfrm rot="0">
            <a:off x="2057400" y="1775841"/>
            <a:ext cx="15636240" cy="7839075"/>
          </a:xfrm>
          <a:prstGeom prst="rect">
            <a:avLst/>
          </a:prstGeom>
        </p:spPr>
        <p:txBody>
          <a:bodyPr anchor="t" rtlCol="false" tIns="0" lIns="0" bIns="0" rIns="0">
            <a:spAutoFit/>
          </a:bodyPr>
          <a:lstStyle/>
          <a:p>
            <a:pPr algn="l">
              <a:lnSpc>
                <a:spcPts val="3240"/>
              </a:lnSpc>
            </a:pPr>
            <a:r>
              <a:rPr lang="en-US" sz="2700" b="true">
                <a:solidFill>
                  <a:srgbClr val="0E2A2F"/>
                </a:solidFill>
                <a:latin typeface="Calibri (MS) Bold"/>
                <a:ea typeface="Calibri (MS) Bold"/>
                <a:cs typeface="Calibri (MS) Bold"/>
                <a:sym typeface="Calibri (MS) Bold"/>
              </a:rPr>
              <a:t>Existing Methods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Direct Submersion: Sensors are continuously exposed to water, causing biofouling.</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Mechanical Cleaning: Wipers and brushes remove deposits but require moving parts and additional power.</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UV-C Sterilization: Helps control microbial growth but consumes significant energy.</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Anti-fouling Coatings: May degrade over time or introduce chemicals into the water.</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Cloud-Based IoT Monitoring: Often lacks local intelligence to identify fouling-related sensor errors.</a:t>
            </a:r>
          </a:p>
          <a:p>
            <a:pPr algn="l">
              <a:lnSpc>
                <a:spcPts val="3240"/>
              </a:lnSpc>
            </a:pPr>
            <a:r>
              <a:rPr lang="en-US" b="true" sz="2700" spc="256">
                <a:solidFill>
                  <a:srgbClr val="0E2A2F"/>
                </a:solidFill>
                <a:latin typeface="Calibri (MS) Bold"/>
                <a:ea typeface="Calibri (MS) Bold"/>
                <a:cs typeface="Calibri (MS) Bold"/>
                <a:sym typeface="Calibri (MS) Bold"/>
              </a:rPr>
              <a:t>Key Limitations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Biofilm and sediment accumulation cause inaccurate readings and sensor drift.</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Mechanical cleaners are prone to jamming, wear, and high maintenance.</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High-power cleaning methods reduce battery life in solar-powered systems.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Conventional monitoring struggles to distinguish actual contamination from sensor fouling.</a:t>
            </a:r>
          </a:p>
          <a:p>
            <a:pPr algn="l">
              <a:lnSpc>
                <a:spcPts val="3240"/>
              </a:lnSpc>
            </a:pPr>
            <a:r>
              <a:rPr lang="en-US" b="true" sz="2700" spc="256">
                <a:solidFill>
                  <a:srgbClr val="0E2A2F"/>
                </a:solidFill>
                <a:latin typeface="Calibri (MS) Bold"/>
                <a:ea typeface="Calibri (MS) Bold"/>
                <a:cs typeface="Calibri (MS) Bold"/>
                <a:sym typeface="Calibri (MS) Bold"/>
              </a:rPr>
              <a:t>Research Gaps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Low-Power Cleaning: Effective anti-fouling with minimal energy consumption.</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Intelligent Fouling Detection: Distinguishing sensor drift from genuine water-quality changes using edge intelligence.</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Sensor Compatibility: Cleaning multiple sensor types without damaging sensitive surfaces.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Closed-Loop Validation: Verifying sensor recovery after cleaning.</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Long-Term Reliability: Demonstrating low-cost, reliable operation under real-world conditions.</a:t>
            </a:r>
          </a:p>
          <a:p>
            <a:pPr algn="l">
              <a:lnSpc>
                <a:spcPts val="3240"/>
              </a:lnSpc>
            </a:pP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6</a:t>
              </a:r>
            </a:p>
          </p:txBody>
        </p:sp>
      </p:grpSp>
      <p:grpSp>
        <p:nvGrpSpPr>
          <p:cNvPr name="Group 36" id="36"/>
          <p:cNvGrpSpPr/>
          <p:nvPr/>
        </p:nvGrpSpPr>
        <p:grpSpPr>
          <a:xfrm rot="0">
            <a:off x="2057400" y="576072"/>
            <a:ext cx="2441448" cy="1042416"/>
            <a:chOff x="0" y="0"/>
            <a:chExt cx="3255264" cy="1389888"/>
          </a:xfrm>
        </p:grpSpPr>
        <p:sp>
          <p:nvSpPr>
            <p:cNvPr name="Freeform 37" id="3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8" id="38"/>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3">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PROBLEM INSIGHTS &amp; OPPORTUNITY AREAS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32" id="32"/>
          <p:cNvSpPr txBox="true"/>
          <p:nvPr/>
        </p:nvSpPr>
        <p:spPr>
          <a:xfrm rot="0">
            <a:off x="1972647" y="2070735"/>
            <a:ext cx="15636240" cy="7839075"/>
          </a:xfrm>
          <a:prstGeom prst="rect">
            <a:avLst/>
          </a:prstGeom>
        </p:spPr>
        <p:txBody>
          <a:bodyPr anchor="t" rtlCol="false" tIns="0" lIns="0" bIns="0" rIns="0">
            <a:spAutoFit/>
          </a:bodyPr>
          <a:lstStyle/>
          <a:p>
            <a:pPr algn="l">
              <a:lnSpc>
                <a:spcPts val="3240"/>
              </a:lnSpc>
            </a:pPr>
            <a:r>
              <a:rPr lang="en-US" b="true" sz="2700" spc="256">
                <a:solidFill>
                  <a:srgbClr val="0E2A2F"/>
                </a:solidFill>
                <a:latin typeface="Calibri (MS) Bold"/>
                <a:ea typeface="Calibri (MS) Bold"/>
                <a:cs typeface="Calibri (MS) Bold"/>
                <a:sym typeface="Calibri (MS) Bold"/>
              </a:rPr>
              <a:t>Hardware Requirements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Controller: STM32L4 low-power MCU with RTC wake-up, watchdog and brown-out reset</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Water-quality sensors: Turbidity, dissolved oxygen, EC/conductivity, temperature (dry-idle Zone A)</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pH electrode: Isolated flooded Zone B, protected from UV, ultrasound and wiping</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Self-cleaning: Air-burst sparging, wiper, UV-C LEDs, 40 kHz ultrasonic transducer, citric acid dosing</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Fluidics: Two peristaltic pumps, three latching ball valves, inlet strainer, Cu-Ni mesh sleeve</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Solar power: 10 W panel, MPPT charger, 12.8 V / 6 Ah LiFePO₄ battery with BMS, INA226 energy monitor</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Communication: LoRa/LoRaWAN module and gateway</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Enclosure: 3D-printed two-zone chamber (UV-safe materials), IP67 housing</a:t>
            </a:r>
          </a:p>
          <a:p>
            <a:pPr algn="l">
              <a:lnSpc>
                <a:spcPts val="3240"/>
              </a:lnSpc>
            </a:pPr>
            <a:r>
              <a:rPr lang="en-US" b="true" sz="2700" spc="256">
                <a:solidFill>
                  <a:srgbClr val="0E2A2F"/>
                </a:solidFill>
                <a:latin typeface="Calibri (MS) Bold"/>
                <a:ea typeface="Calibri (MS) Bold"/>
                <a:cs typeface="Calibri (MS) Bold"/>
                <a:sym typeface="Calibri (MS) Bold"/>
              </a:rPr>
              <a:t>Software Requirements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Firmware: Low-power C++ on STM32L4 with an 8-state control machine</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Fouling detection: Sensor Health Index from response-rate loss, dead-time, dry-state residual and 24 h drift</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Adaptive cleaning: Escalation from air-burst → wiper → UV-C → citric acid + ultrasound</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Energy-aware control: Three power modes (30 / 60 / 120 min sampling) driven by battery state and solar harvest</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Dashboard: LoRaWAN network server feeding Grafana/InfluxDB or ThingsBoard</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Dashboard displays: Health index, fault flag, power mode, battery level, raw readings, with remote alerts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Logic type: Rule-based and model-fit, not a trained neural network</a:t>
            </a:r>
          </a:p>
          <a:p>
            <a:pPr algn="l">
              <a:lnSpc>
                <a:spcPts val="3240"/>
              </a:lnSpc>
            </a:pP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7</a:t>
              </a:r>
            </a:p>
          </p:txBody>
        </p:sp>
      </p:grpSp>
      <p:grpSp>
        <p:nvGrpSpPr>
          <p:cNvPr name="Group 36" id="36"/>
          <p:cNvGrpSpPr/>
          <p:nvPr/>
        </p:nvGrpSpPr>
        <p:grpSpPr>
          <a:xfrm rot="0">
            <a:off x="2057400" y="576072"/>
            <a:ext cx="2441448" cy="1042416"/>
            <a:chOff x="0" y="0"/>
            <a:chExt cx="3255264" cy="1389888"/>
          </a:xfrm>
        </p:grpSpPr>
        <p:sp>
          <p:nvSpPr>
            <p:cNvPr name="Freeform 37" id="37"/>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8" id="38"/>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2"/>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3">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3">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3">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3">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INITIAL DIRECTION &amp; EXPECTED OUTCOME</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grpSp>
        <p:nvGrpSpPr>
          <p:cNvPr name="Group 32" id="32"/>
          <p:cNvGrpSpPr/>
          <p:nvPr/>
        </p:nvGrpSpPr>
        <p:grpSpPr>
          <a:xfrm rot="0">
            <a:off x="16888511" y="9614916"/>
            <a:ext cx="685800" cy="593903"/>
            <a:chOff x="0" y="0"/>
            <a:chExt cx="914400" cy="791870"/>
          </a:xfrm>
        </p:grpSpPr>
        <p:sp>
          <p:nvSpPr>
            <p:cNvPr name="Freeform 33" id="3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3">
                <a:alphaModFix amt="0"/>
              </a:blip>
              <a:stretch>
                <a:fillRect l="-61110" t="0" r="-61110" b="0"/>
              </a:stretch>
            </a:blipFill>
          </p:spPr>
        </p:sp>
        <p:sp>
          <p:nvSpPr>
            <p:cNvPr name="TextBox 34" id="3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8</a:t>
              </a:r>
            </a:p>
          </p:txBody>
        </p:sp>
      </p:grpSp>
      <p:grpSp>
        <p:nvGrpSpPr>
          <p:cNvPr name="Group 35" id="35"/>
          <p:cNvGrpSpPr/>
          <p:nvPr/>
        </p:nvGrpSpPr>
        <p:grpSpPr>
          <a:xfrm rot="0">
            <a:off x="2057400" y="576072"/>
            <a:ext cx="2441448" cy="1042416"/>
            <a:chOff x="0" y="0"/>
            <a:chExt cx="3255264" cy="1389888"/>
          </a:xfrm>
        </p:grpSpPr>
        <p:sp>
          <p:nvSpPr>
            <p:cNvPr name="Freeform 36" id="36"/>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3">
                <a:alphaModFix amt="0"/>
              </a:blip>
              <a:stretch>
                <a:fillRect l="-4781" t="0" r="-4781" b="0"/>
              </a:stretch>
            </a:blipFill>
          </p:spPr>
        </p:sp>
        <p:sp>
          <p:nvSpPr>
            <p:cNvPr name="TextBox 37" id="37"/>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Vishwamithra</a:t>
              </a:r>
            </a:p>
          </p:txBody>
        </p:sp>
      </p:grpSp>
      <p:sp>
        <p:nvSpPr>
          <p:cNvPr name="Freeform 38" id="38"/>
          <p:cNvSpPr/>
          <p:nvPr/>
        </p:nvSpPr>
        <p:spPr>
          <a:xfrm flipH="false" flipV="false" rot="0">
            <a:off x="2640330" y="1888983"/>
            <a:ext cx="13084230" cy="7147261"/>
          </a:xfrm>
          <a:custGeom>
            <a:avLst/>
            <a:gdLst/>
            <a:ahLst/>
            <a:cxnLst/>
            <a:rect r="r" b="b" t="t" l="l"/>
            <a:pathLst>
              <a:path h="7147261" w="13084230">
                <a:moveTo>
                  <a:pt x="0" y="0"/>
                </a:moveTo>
                <a:lnTo>
                  <a:pt x="13084230" y="0"/>
                </a:lnTo>
                <a:lnTo>
                  <a:pt x="13084230" y="7147261"/>
                </a:lnTo>
                <a:lnTo>
                  <a:pt x="0" y="7147261"/>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DAHXWzNFhVY</dc:identifier>
  <dcterms:modified xsi:type="dcterms:W3CDTF">2011-08-01T06:04:30Z</dcterms:modified>
  <cp:revision>1</cp:revision>
  <dc:title>Team Name – Team Members – Amirthamirra P CB.EN.U4ELC25057 Selected Domain – 4 Problem Statement –</dc:title>
</cp:coreProperties>
</file>